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/>
              </a:defRPr>
            </a:pPr>
            <a:r>
              <a:t>标准企业AI落地解决方案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CCEE"/>
                </a:solidFill>
                <a:latin typeface="微软雅黑"/>
              </a:defRPr>
            </a:pPr>
            <a:r>
              <a:t>—— 不知道从哪开始？先看这份 ——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BBDD"/>
                </a:solidFill>
                <a:latin typeface="微软雅黑"/>
              </a:defRPr>
            </a:pPr>
            <a:r>
              <a:t>低门槛入场 · 高价值运维 · 持续进化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AACC"/>
                </a:solidFill>
                <a:latin typeface="微软雅黑"/>
              </a:defRPr>
            </a:pPr>
            <a:r>
              <a:t>可整本使用  ·  可拆分组件使用  ·  可适配行业定制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你的企业可能正在"出血"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微软雅黑"/>
              </a:defRPr>
            </a:pPr>
            <a:r>
              <a:t>老板都在问：AI该用什么、怎么用、值不值得做？但先看看你的企业有没有这些问题：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2651760" cy="20116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265176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微软雅黑"/>
              </a:defRPr>
            </a:pPr>
            <a:r>
              <a:t>信息流失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微软雅黑"/>
              </a:defRPr>
            </a:pPr>
            <a:r>
              <a:t>客户资料散在微信、Excel里</a:t>
            </a:r>
            <a:br/>
            <a:r>
              <a:t>人走数据走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011680"/>
            <a:ext cx="2651760" cy="20116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2011680"/>
            <a:ext cx="2651760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D7D31"/>
                </a:solidFill>
                <a:latin typeface="微软雅黑"/>
              </a:defRPr>
            </a:pPr>
            <a:r>
              <a:t>流程断裂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8346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微软雅黑"/>
              </a:defRPr>
            </a:pPr>
            <a:r>
              <a:t>一份合同走5个签字</a:t>
            </a:r>
            <a:br/>
            <a:r>
              <a:t>全靠纸质流转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011680"/>
            <a:ext cx="2651760" cy="20116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011680"/>
            <a:ext cx="2651760" cy="731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6914"/>
                </a:solidFill>
                <a:latin typeface="微软雅黑"/>
              </a:defRPr>
            </a:pPr>
            <a:r>
              <a:t>经验断层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8346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微软雅黑"/>
              </a:defRPr>
            </a:pPr>
            <a:r>
              <a:t>老员工经验在脑子里</a:t>
            </a:r>
            <a:br/>
            <a:r>
              <a:t>新人从头学起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2011680"/>
            <a:ext cx="2651760" cy="20116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2011680"/>
            <a:ext cx="2651760" cy="73152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6666"/>
                </a:solidFill>
                <a:latin typeface="微软雅黑"/>
              </a:defRPr>
            </a:pPr>
            <a:r>
              <a:t>决策盲区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28346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微软雅黑"/>
              </a:defRPr>
            </a:pPr>
            <a:r>
              <a:t>老板拍脑袋决策</a:t>
            </a:r>
            <a:br/>
            <a:r>
              <a:t>缺乏数据支撑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864"/>
                </a:solidFill>
                <a:latin typeface="微软雅黑"/>
              </a:defRPr>
            </a:pPr>
            <a:r>
              <a:t>AI不是万能药，但它是目前成本最低的止血工具——前提是用对方法。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为什么"自己搭Agent"会失败？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微软雅黑"/>
              </a:defRPr>
            </a:pPr>
            <a:r>
              <a:t>三断层理论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0972800" cy="1188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91440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微软雅黑"/>
              </a:defRPr>
            </a:pPr>
            <a:r>
              <a:t>断层一：数据主权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员工把公司合同、客户名单上传到公网平台</a:t>
            </a:r>
            <a:br/>
            <a:r>
              <a:t>数据泄露是不可逆的合规风险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80"/>
            <a:ext cx="10972800" cy="1188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926080"/>
            <a:ext cx="91440" cy="1188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D7D31"/>
                </a:solidFill>
                <a:latin typeface="微软雅黑"/>
              </a:defRPr>
            </a:pPr>
            <a:r>
              <a:t>断层二：业务上下文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通用AI不懂你的审批流程、客户等级</a:t>
            </a:r>
            <a:br/>
            <a:r>
              <a:t>生成的是"正确的废话"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89120"/>
            <a:ext cx="10972800" cy="1188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389120"/>
            <a:ext cx="91440" cy="1188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26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6666"/>
                </a:solidFill>
                <a:latin typeface="微软雅黑"/>
              </a:defRPr>
            </a:pPr>
            <a:r>
              <a:t>断层三：持续运营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员工离职，他搭的Agent就没了</a:t>
            </a:r>
            <a:br/>
            <a:r>
              <a:t>每次人员变动都是一次归零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微软雅黑"/>
              </a:defRPr>
            </a:pPr>
            <a:r>
              <a:t>结论：AI工具是"锄头"，我们提供的是"现代化农场"的整体规划与运营方案。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我们的做法：四步落地法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微软雅黑"/>
              </a:defRPr>
            </a:pPr>
            <a:r>
              <a:t>不是卖你一套系统，是帮你把AI变成生产力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560320" cy="22860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微软雅黑"/>
              </a:defRPr>
            </a:pPr>
            <a:r>
              <a:t>第一步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AI诊断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EEFF"/>
                </a:solidFill>
                <a:latin typeface="微软雅黑"/>
              </a:defRPr>
            </a:pPr>
            <a:r>
              <a:t>看清楚棋盘</a:t>
            </a:r>
            <a:br/>
            <a:r>
              <a:t>1-2周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35808" y="2651760"/>
            <a:ext cx="283464" cy="54864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1828800"/>
            <a:ext cx="2560320" cy="228600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微软雅黑"/>
              </a:defRPr>
            </a:pPr>
            <a:r>
              <a:t>第二步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468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方案设计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108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EEFF"/>
                </a:solidFill>
                <a:latin typeface="微软雅黑"/>
              </a:defRPr>
            </a:pPr>
            <a:r>
              <a:t>画好路线图</a:t>
            </a:r>
            <a:br/>
            <a:r>
              <a:t>1周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16168" y="2651760"/>
            <a:ext cx="283464" cy="54864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828800"/>
            <a:ext cx="2560320" cy="22860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微软雅黑"/>
              </a:defRPr>
            </a:pPr>
            <a:r>
              <a:t>第三步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68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系统实施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108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EEFF"/>
                </a:solidFill>
                <a:latin typeface="微软雅黑"/>
              </a:defRPr>
            </a:pPr>
            <a:r>
              <a:t>把系统搭起来</a:t>
            </a:r>
            <a:br/>
            <a:r>
              <a:t>4-16周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96528" y="2651760"/>
            <a:ext cx="283464" cy="54864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98280" y="1828800"/>
            <a:ext cx="2560320" cy="2286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微软雅黑"/>
              </a:defRPr>
            </a:pPr>
            <a:r>
              <a:t>第四步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468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持续运维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108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EEFF"/>
                </a:solidFill>
                <a:latin typeface="微软雅黑"/>
              </a:defRPr>
            </a:pPr>
            <a:r>
              <a:t>越用越值钱</a:t>
            </a:r>
            <a:br/>
            <a:r>
              <a:t>持续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微软雅黑"/>
              </a:defRPr>
            </a:pPr>
            <a:r>
              <a:t>你可以随时停在第一步——诊断完觉得不值得做，我们尊重你的决定。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D7D31"/>
                </a:solidFill>
                <a:latin typeface="微软雅黑"/>
              </a:defRPr>
            </a:pPr>
            <a:r>
              <a:t>诊断费2-3万，如后续签约实施，诊断费可抵扣实施费。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能力组件库：按需组合，按需定制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微软雅黑"/>
              </a:defRPr>
            </a:pPr>
            <a:r>
              <a:t>已有组件+定制开发，不限于此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651760" cy="29260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6400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08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智能文档工厂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报告自动生成</a:t>
            </a:r>
            <a:br/>
            <a:r>
              <a:t>合同/文档审核</a:t>
            </a:r>
            <a:br/>
            <a:r>
              <a:t>模板管理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2286000" cy="50292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周报从2h→15min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371600"/>
            <a:ext cx="2651760" cy="29260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371600"/>
            <a:ext cx="2651760" cy="6400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1508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企业知识中枢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19456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制度问答</a:t>
            </a:r>
            <a:br/>
            <a:r>
              <a:t>新人陪练</a:t>
            </a:r>
            <a:br/>
            <a:r>
              <a:t>经验沉淀</a:t>
            </a:r>
            <a:br/>
            <a:r>
              <a:t>法规查询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3657600"/>
            <a:ext cx="2286000" cy="50292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80" y="37033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新人上手3月→1月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371600"/>
            <a:ext cx="2651760" cy="29260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265176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508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智能运营助手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19456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数据汇总</a:t>
            </a:r>
            <a:br/>
            <a:r>
              <a:t>风险预警</a:t>
            </a:r>
            <a:br/>
            <a:r>
              <a:t>分析报告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657600"/>
            <a:ext cx="2286000" cy="50292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7033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老板实时看数据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1371600"/>
            <a:ext cx="2651760" cy="29260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98280" y="1371600"/>
            <a:ext cx="2651760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6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1508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统一门户与连接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219456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企微/钉钉集成</a:t>
            </a:r>
            <a:br/>
            <a:r>
              <a:t>待办聚合</a:t>
            </a:r>
            <a:br/>
            <a:r>
              <a:t>AI客服入口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81160" y="3657600"/>
            <a:ext cx="2286000" cy="50292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37033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零学习成本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5720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D7D31"/>
                </a:solidFill>
                <a:latin typeface="微软雅黑"/>
              </a:defRPr>
            </a:pPr>
            <a:r>
              <a:t>以上为已验证组件示例，不限于此  ·  你的场景不在这里？告诉我们，按需定制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AI怎么工作：人机协同四步闭环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微软雅黑"/>
              </a:defRPr>
            </a:pPr>
            <a:r>
              <a:t>AI是参谋不是裁判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1645920"/>
            <a:ext cx="731520" cy="73152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2560320" cy="2286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72C4"/>
                </a:solidFill>
                <a:latin typeface="微软雅黑"/>
              </a:defRPr>
            </a:pPr>
            <a:r>
              <a:t>规则引擎预审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必填校验、格式检查</a:t>
            </a:r>
            <a:br/>
            <a:r>
              <a:t>过滤低级错误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035808" y="3017520"/>
            <a:ext cx="274320" cy="365760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51960" y="1645920"/>
            <a:ext cx="731520" cy="731520"/>
          </a:xfrm>
          <a:prstGeom prst="ellipse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737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2560320"/>
            <a:ext cx="2560320" cy="2286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743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4B5"/>
                </a:solidFill>
                <a:latin typeface="微软雅黑"/>
              </a:defRPr>
            </a:pPr>
            <a:r>
              <a:t>AI引擎+知识库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2918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语义分析、法规比对</a:t>
            </a:r>
            <a:br/>
            <a:r>
              <a:t>风险标记+置信度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16168" y="3017520"/>
            <a:ext cx="274320" cy="365760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32320" y="1645920"/>
            <a:ext cx="731520" cy="73152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1737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560320"/>
            <a:ext cx="2560320" cy="2286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743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微软雅黑"/>
              </a:defRPr>
            </a:pPr>
            <a:r>
              <a:t>业务人员终审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918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查看原文+AI标记</a:t>
            </a:r>
            <a:br/>
            <a:r>
              <a:t>确认或驳回（强制）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8796528" y="3017520"/>
            <a:ext cx="274320" cy="365760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12680" y="1645920"/>
            <a:ext cx="731520" cy="7315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12680" y="1737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2560320"/>
            <a:ext cx="2560320" cy="2286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2743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微软雅黑"/>
              </a:defRPr>
            </a:pPr>
            <a:r>
              <a:t>系统自动学习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32918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人工修正更新知识库</a:t>
            </a:r>
            <a:br/>
            <a:r>
              <a:t>AI下次更准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303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微软雅黑"/>
              </a:defRPr>
            </a:pPr>
            <a:r>
              <a:t>关键：AI干80%的活，人做20%的关键决策。AI越用越准，因为每次人工修正都让AI变聪明。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数据安全：私有化 + 四级分级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微软雅黑"/>
              </a:defRPr>
            </a:pPr>
            <a:r>
              <a:t>你的数据不会出现在任何公网上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029200" cy="3200400"/>
          </a:xfrm>
          <a:prstGeom prst="roundRect">
            <a:avLst/>
          </a:prstGeom>
          <a:solidFill>
            <a:srgbClr val="DA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864"/>
                </a:solidFill>
                <a:latin typeface="微软雅黑"/>
              </a:defRPr>
            </a:pPr>
            <a:r>
              <a:t>你的服务器（内网）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42976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业务平台 + AI引擎 + 知识库</a:t>
            </a: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数据100%在你的机房里</a:t>
            </a:r>
          </a:p>
          <a:p>
            <a:pPr>
              <a:spcAft>
                <a:spcPts val="84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我们远程维护，碰不到你的数据</a:t>
            </a: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为什么不是SaaS？</a:t>
            </a: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合同、客户名单上了公网就收不回来</a:t>
            </a: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这是不可逆的合规风险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864"/>
                </a:solidFill>
                <a:latin typeface="微软雅黑"/>
              </a:defRPr>
            </a:pPr>
            <a:r>
              <a:t>数据分级管理：L1-L4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0" y="1920240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182880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什么数据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怎么处理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L1 公开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宣传资料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可公开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L2 内部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周报、通知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内部流转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L3 敏感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合同、客户信息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脱敏处理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L4 核心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财报、商业机密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物理隔离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5029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平台选择不绑定：明道云/简道云/宜搭/定制开发——根据你的情况选最合适的。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投入多少：透明报价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微软雅黑"/>
              </a:defRPr>
            </a:pPr>
            <a:r>
              <a:t>成本透明，不赚差价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6858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费用项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金额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性质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平台许可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6,000-20,000元/年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年付，你的资产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服务器硬件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8,000-12,000元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一次性，你的资产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实施费（基础版）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3-5万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1-2个组件+培训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实施费（标准版）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5-8万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3-4个组件+AI集成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实施费（旗舰版）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8-12万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多组件+深度定制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年度运维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0.8-2万/年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监控+AI运营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培训费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0.8-2.5万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可选采购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0" y="1280160"/>
            <a:ext cx="3931920" cy="41148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典型场景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微软雅黑"/>
              </a:defRPr>
            </a:pPr>
            <a:r>
              <a:t>50人贸易公司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微软雅黑"/>
              </a:defRPr>
            </a:pPr>
            <a:r>
              <a:t>平台许可（年）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2377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6,000元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微软雅黑"/>
              </a:defRPr>
            </a:pPr>
            <a:r>
              <a:t>服务器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10,000元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微软雅黑"/>
              </a:defRPr>
            </a:pPr>
            <a:r>
              <a:t>实施费（标准版）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3291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60,000元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749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微软雅黑"/>
              </a:defRPr>
            </a:pPr>
            <a:r>
              <a:t>首年运维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3749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12,000元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4297680"/>
            <a:ext cx="3566160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微软雅黑"/>
              </a:defRPr>
            </a:pPr>
            <a:r>
              <a:t>首期总投入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389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ED7D31"/>
                </a:solidFill>
                <a:latin typeface="微软雅黑"/>
              </a:defRPr>
            </a:pPr>
            <a:r>
              <a:t>约88,000元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BBDD"/>
                </a:solidFill>
                <a:latin typeface="微软雅黑"/>
              </a:defRPr>
            </a:pPr>
            <a:r>
              <a:t>10万以内，跑起一套私有化AI系统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为什么选我们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微软雅黑"/>
              </a:defRPr>
            </a:pPr>
            <a:r>
              <a:t>六个关键差异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4846320" cy="777240"/>
          </a:xfrm>
          <a:prstGeom prst="roundRect">
            <a:avLst/>
          </a:prstGeom>
          <a:solidFill>
            <a:srgbClr val="FB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微软雅黑"/>
              </a:defRPr>
            </a:pPr>
            <a:r>
              <a:t>传统软件公司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30-50万起，3-6个月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486400" y="1600200"/>
            <a:ext cx="457200" cy="32004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35040" y="1371600"/>
            <a:ext cx="5669280" cy="777240"/>
          </a:xfrm>
          <a:prstGeom prst="roundRect">
            <a:avLst/>
          </a:prstGeom>
          <a:solidFill>
            <a:srgbClr val="EA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4447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微软雅黑"/>
              </a:defRPr>
            </a:pPr>
            <a:r>
              <a:t>我们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10万以内，4-16周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31720"/>
            <a:ext cx="4846320" cy="777240"/>
          </a:xfrm>
          <a:prstGeom prst="roundRect">
            <a:avLst/>
          </a:prstGeom>
          <a:solidFill>
            <a:srgbClr val="FB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048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微软雅黑"/>
              </a:defRPr>
            </a:pPr>
            <a:r>
              <a:t>SaaS平台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数据在公网，你是租户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486400" y="2560320"/>
            <a:ext cx="457200" cy="32004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0" y="2331720"/>
            <a:ext cx="5669280" cy="777240"/>
          </a:xfrm>
          <a:prstGeom prst="roundRect">
            <a:avLst/>
          </a:prstGeom>
          <a:solidFill>
            <a:srgbClr val="EA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4048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微软雅黑"/>
              </a:defRPr>
            </a:pPr>
            <a:r>
              <a:t>我们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7432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私有化，数据是你的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291840"/>
            <a:ext cx="4846320" cy="777240"/>
          </a:xfrm>
          <a:prstGeom prst="roundRect">
            <a:avLst/>
          </a:prstGeom>
          <a:solidFill>
            <a:srgbClr val="FB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3649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微软雅黑"/>
              </a:defRPr>
            </a:pPr>
            <a:r>
              <a:t>AI工具商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703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卖完工具就走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486400" y="3520440"/>
            <a:ext cx="457200" cy="32004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35040" y="3291840"/>
            <a:ext cx="5669280" cy="777240"/>
          </a:xfrm>
          <a:prstGeom prst="roundRect">
            <a:avLst/>
          </a:prstGeom>
          <a:solidFill>
            <a:srgbClr val="EA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3649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微软雅黑"/>
              </a:defRPr>
            </a:pPr>
            <a:r>
              <a:t>我们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7033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卖完才刚开始——持续运维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251960"/>
            <a:ext cx="4846320" cy="777240"/>
          </a:xfrm>
          <a:prstGeom prst="roundRect">
            <a:avLst/>
          </a:prstGeom>
          <a:solidFill>
            <a:srgbClr val="FB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3251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微软雅黑"/>
              </a:defRPr>
            </a:pPr>
            <a:r>
              <a:t>培训公司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663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只讲理论不落地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486400" y="4480560"/>
            <a:ext cx="457200" cy="32004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035040" y="4251960"/>
            <a:ext cx="5669280" cy="777240"/>
          </a:xfrm>
          <a:prstGeom prst="roundRect">
            <a:avLst/>
          </a:prstGeom>
          <a:solidFill>
            <a:srgbClr val="EA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43251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微软雅黑"/>
              </a:defRPr>
            </a:pPr>
            <a:r>
              <a:t>我们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663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先诊断再实施，有系统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212080"/>
            <a:ext cx="4846320" cy="777240"/>
          </a:xfrm>
          <a:prstGeom prst="roundRect">
            <a:avLst/>
          </a:prstGeom>
          <a:solidFill>
            <a:srgbClr val="FB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2852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微软雅黑"/>
              </a:defRPr>
            </a:pPr>
            <a:r>
              <a:t>自己搭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623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数据泄露不可逆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5486400" y="5440680"/>
            <a:ext cx="457200" cy="32004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035040" y="5212080"/>
            <a:ext cx="5669280" cy="777240"/>
          </a:xfrm>
          <a:prstGeom prst="roundRect">
            <a:avLst/>
          </a:prstGeom>
          <a:solidFill>
            <a:srgbClr val="EA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52852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微软雅黑"/>
              </a:defRPr>
            </a:pPr>
            <a:r>
              <a:t>我们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5623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专业实施+合规保障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微软雅黑"/>
              </a:defRPr>
            </a:pPr>
            <a:r>
              <a:t>核心差异：我们不卖工具，我们卖"AI变成生产力"的能力。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合作流程：从接触到上线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1737360" cy="3200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1737360" cy="5486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74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66666"/>
                </a:solidFill>
                <a:latin typeface="微软雅黑"/>
              </a:defRPr>
            </a:pPr>
            <a:r>
              <a:t>初步沟通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D7D31"/>
                </a:solidFill>
                <a:latin typeface="微软雅黑"/>
              </a:defRPr>
            </a:pPr>
            <a:r>
              <a:t>免费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你说情况→我们判断</a:t>
            </a:r>
            <a:br/>
            <a:r>
              <a:t>是否适合AI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1828800"/>
            <a:ext cx="1737360" cy="3200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40280" y="1828800"/>
            <a:ext cx="1737360" cy="5486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1874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468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472C4"/>
                </a:solidFill>
                <a:latin typeface="微软雅黑"/>
              </a:defRPr>
            </a:pPr>
            <a:r>
              <a:t>AI诊断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9260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D7D31"/>
                </a:solidFill>
                <a:latin typeface="微软雅黑"/>
              </a:defRPr>
            </a:pPr>
            <a:r>
              <a:t>2-3万</a:t>
            </a:r>
            <a:br/>
            <a:r>
              <a:t>可抵扣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74904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1-2周→出诊断报告</a:t>
            </a:r>
            <a:br/>
            <a:r>
              <a:t>+路线图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1828800"/>
            <a:ext cx="1737360" cy="3200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1828800"/>
            <a:ext cx="1737360" cy="5486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1874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468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E74B5"/>
                </a:solidFill>
                <a:latin typeface="微软雅黑"/>
              </a:defRPr>
            </a:pPr>
            <a:r>
              <a:t>方案设计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9260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D7D31"/>
                </a:solidFill>
                <a:latin typeface="微软雅黑"/>
              </a:defRPr>
            </a:pPr>
            <a:r>
              <a:t>免费</a:t>
            </a:r>
            <a:br/>
            <a:r>
              <a:t>含在实施费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74904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1周→出方案书</a:t>
            </a:r>
            <a:br/>
            <a:r>
              <a:t>+费用明细→签合同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1828800"/>
            <a:ext cx="1737360" cy="3200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89320" y="1828800"/>
            <a:ext cx="1737360" cy="5486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1874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2468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F4E79"/>
                </a:solidFill>
                <a:latin typeface="微软雅黑"/>
              </a:defRPr>
            </a:pPr>
            <a:r>
              <a:t>系统实施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29260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D7D31"/>
                </a:solidFill>
                <a:latin typeface="微软雅黑"/>
              </a:defRPr>
            </a:pPr>
            <a:r>
              <a:t>3-12万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374904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4-16周</a:t>
            </a:r>
            <a:br/>
            <a:r>
              <a:t>分阶段交付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0" y="1828800"/>
            <a:ext cx="1737360" cy="3200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63840" y="1828800"/>
            <a:ext cx="1737360" cy="5486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0" y="1874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Step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0" y="2468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D7D31"/>
                </a:solidFill>
                <a:latin typeface="微软雅黑"/>
              </a:defRPr>
            </a:pPr>
            <a:r>
              <a:t>培训赋能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0" y="29260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D7D31"/>
                </a:solidFill>
                <a:latin typeface="微软雅黑"/>
              </a:defRPr>
            </a:pPr>
            <a:r>
              <a:t>0.8-</a:t>
            </a:r>
            <a:br/>
            <a:r>
              <a:t>2.5万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0" y="374904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2-4天</a:t>
            </a:r>
            <a:br/>
            <a:r>
              <a:t>全员培训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38360" y="1828800"/>
            <a:ext cx="1737360" cy="3200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738360" y="1828800"/>
            <a:ext cx="173736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29800" y="1874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Step 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9800" y="2468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E7D32"/>
                </a:solidFill>
                <a:latin typeface="微软雅黑"/>
              </a:defRPr>
            </a:pPr>
            <a:r>
              <a:t>上线运维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29260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D7D31"/>
                </a:solidFill>
                <a:latin typeface="微软雅黑"/>
              </a:defRPr>
            </a:pPr>
            <a:r>
              <a:t>年度</a:t>
            </a:r>
            <a:br/>
            <a:r>
              <a:t>签约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374904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正式上线</a:t>
            </a:r>
            <a:br/>
            <a:r>
              <a:t>季度复盘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微软雅黑"/>
              </a:defRPr>
            </a:pPr>
            <a:r>
              <a:t>你可以随时停在Step 2——诊断完觉得不值得做，诊断报告你留着。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我们承诺什么，不承诺什么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微软雅黑"/>
              </a:defRPr>
            </a:pPr>
            <a:r>
              <a:t>诚实是最好的销售策略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微软雅黑"/>
              </a:defRPr>
            </a:pPr>
            <a:r>
              <a:t>我们承诺的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微软雅黑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数据安全：100%私有化部署，数据物理隔离在内网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微软雅黑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交付标准：每个组件UAT验收，客户签字确认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微软雅黑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34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质量保障：交付后30天免费缺陷修复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微软雅黑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337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成本透明：所有费用明码标价，不赚差价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微软雅黑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840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需求冻结：签约后冻结范围，变更走增项流程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43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微软雅黑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343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持续服务：年度运维，不交付完就走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微软雅黑"/>
              </a:defRPr>
            </a:pPr>
            <a:r>
              <a:t>我们不承诺的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828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微软雅黑"/>
              </a:defRPr>
            </a:pPr>
            <a: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AI 100%准确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1945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任何承诺100%的都是骗子</a:t>
            </a:r>
            <a:br/>
            <a:r>
              <a:t>我们用人机协同兜底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微软雅黑"/>
              </a:defRPr>
            </a:pPr>
            <a: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一周速成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3832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好的系统需要时间打磨</a:t>
            </a:r>
            <a:br/>
            <a:r>
              <a:t>我们不赶工出次品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206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微软雅黑"/>
              </a:defRPr>
            </a:pPr>
            <a: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全自动无人化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5720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AI是参谋不是裁判</a:t>
            </a:r>
            <a:br/>
            <a:r>
              <a:t>关键决策必须有人参与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方案延伸：从一个标准方案到行业专属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微软雅黑"/>
              </a:defRPr>
            </a:pPr>
            <a:r>
              <a:t>母体方案 + 行业适配 = 行业专属方案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657600" cy="109728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783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标准AI落地方案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240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CCEE"/>
                </a:solidFill>
                <a:latin typeface="微软雅黑"/>
              </a:defRPr>
            </a:pPr>
            <a:r>
              <a:t>组件库 + 技术架构 + 运维体系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657600" y="3291840"/>
            <a:ext cx="548640" cy="32004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3200400"/>
            <a:ext cx="2286000" cy="5486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291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人力资源服务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3200400"/>
            <a:ext cx="320040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3291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已有初版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657600" y="4023360"/>
            <a:ext cx="548640" cy="32004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71600" y="3931920"/>
            <a:ext cx="2286000" cy="5486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4023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劳动关系风控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3931920"/>
            <a:ext cx="3200400" cy="54864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4023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参赛中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657600" y="4754880"/>
            <a:ext cx="548640" cy="32004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371600" y="4663440"/>
            <a:ext cx="2286000" cy="5486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4754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制造业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4663440"/>
            <a:ext cx="3200400" cy="54864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4754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可定制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657600" y="5486400"/>
            <a:ext cx="548640" cy="32004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371600" y="5394960"/>
            <a:ext cx="2286000" cy="5486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5486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建工行业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5394960"/>
            <a:ext cx="3200400" cy="54864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5486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可定制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底层架构不变，上层组件按行业适配。你的行业不在列表里？告诉我们，我们可以定制。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交付后：系统越用越值钱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微软雅黑"/>
              </a:defRPr>
            </a:pPr>
            <a:r>
              <a:t>传统交付"做完就结束"，我们做的是"做完才开始"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1737360" cy="7315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项目交付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12848" y="1828800"/>
            <a:ext cx="137160" cy="36576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77440" y="1645920"/>
            <a:ext cx="1737360" cy="73152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17830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AI使用数据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33088" y="1828800"/>
            <a:ext cx="137160" cy="36576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1645920"/>
            <a:ext cx="1737360" cy="7315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7830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知识库更新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53328" y="1828800"/>
            <a:ext cx="137160" cy="36576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1737360" cy="73152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7830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Prompt调优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973568" y="1828800"/>
            <a:ext cx="137160" cy="36576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1645920"/>
            <a:ext cx="1737360" cy="7315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7830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效果提升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893808" y="1828800"/>
            <a:ext cx="137160" cy="36576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58400" y="1645920"/>
            <a:ext cx="1737360" cy="73152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17830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价值放大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48640" y="2926080"/>
          <a:ext cx="11155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52120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沉淀内容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来源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业务模板库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客户业务文档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下个同行业客户直接复用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Prompt优化记录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使用过程调优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避免重复踩坑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行业知识库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客户授权的法规/制度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同行业客户共享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交付SOP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实施过程记录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标准化流程，缩短周期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效果数据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AI使用统计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向新客户展示量化效果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常见问题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72C4"/>
                </a:solidFill>
                <a:latin typeface="微软雅黑"/>
              </a:defRPr>
            </a:pPr>
            <a:r>
              <a:t>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微软雅黑"/>
              </a:defRPr>
            </a:pPr>
            <a:r>
              <a:t>连OA都没有，能用AI吗？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微软雅黑"/>
              </a:defRPr>
            </a:pPr>
            <a: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恰恰最需要。我们先帮你理顺数据、跑通流程（建底座），再叠加AI。不是空中楼阁。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72C4"/>
                </a:solidFill>
                <a:latin typeface="微软雅黑"/>
              </a:defRPr>
            </a:pPr>
            <a: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微软雅黑"/>
              </a:defRPr>
            </a:pPr>
            <a:r>
              <a:t>预算紧，能不能先试试？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97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微软雅黑"/>
              </a:defRPr>
            </a:pPr>
            <a: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97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可以。诊断2-3万先看值不值得做。最低3万跑起一个组件。平台年费6,000，服务器1万以内。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72C4"/>
                </a:solidFill>
                <a:latin typeface="微软雅黑"/>
              </a:defRPr>
            </a:pPr>
            <a: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91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微软雅黑"/>
              </a:defRPr>
            </a:pPr>
            <a:r>
              <a:t>AI会不会取代我们的人？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微软雅黑"/>
              </a:defRPr>
            </a:pPr>
            <a: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03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不会。AI干机械重复的活，人做关键决策。让你的团队从体力活中解放出来。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97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72C4"/>
                </a:solidFill>
                <a:latin typeface="微软雅黑"/>
              </a:defRPr>
            </a:pPr>
            <a:r>
              <a:t>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97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微软雅黑"/>
              </a:defRPr>
            </a:pPr>
            <a:r>
              <a:t>自己用Coze搭不行吗？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09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微软雅黑"/>
              </a:defRPr>
            </a:pPr>
            <a: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09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个人用没问题。但企业级要解决三件事：数据安全、业务贴合、持续运营。我们解决的就是这三件事。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03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72C4"/>
                </a:solidFill>
                <a:latin typeface="微软雅黑"/>
              </a:defRPr>
            </a:pPr>
            <a:r>
              <a:t>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03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3864"/>
                </a:solidFill>
                <a:latin typeface="微软雅黑"/>
              </a:defRPr>
            </a:pPr>
            <a:r>
              <a:t>系统上线后谁管？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715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微软雅黑"/>
              </a:defRPr>
            </a:pPr>
            <a: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715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年度运维。不用招IT，不用担心没人管。知识库我们更新，Prompt我们调优。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关于我们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864"/>
                </a:solidFill>
                <a:latin typeface="微软雅黑"/>
              </a:defRPr>
            </a:pPr>
            <a:r>
              <a:t>专注于中小企业AI落地的科技服务公司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微软雅黑"/>
              </a:defRPr>
            </a:pPr>
            <a:r>
              <a:t>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微软雅黑"/>
              </a:defRPr>
            </a:pPr>
            <a:r>
              <a:t>产品经理出身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286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用业务语言不是技术术语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微软雅黑"/>
              </a:defRPr>
            </a:pPr>
            <a: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微软雅黑"/>
              </a:defRPr>
            </a:pPr>
            <a:r>
              <a:t>BD+咨询+数字化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017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复合背景，懂老板要什么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微软雅黑"/>
              </a:defRPr>
            </a:pPr>
            <a: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749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微软雅黑"/>
              </a:defRPr>
            </a:pPr>
            <a:r>
              <a:t>AI工具自用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749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一个人做到传统团队的深度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微软雅黑"/>
              </a:defRPr>
            </a:pPr>
            <a: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微软雅黑"/>
              </a:defRPr>
            </a:pPr>
            <a:r>
              <a:t>专家网络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480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按项目协作，不养冗余团队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864"/>
                </a:solidFill>
                <a:latin typeface="微软雅黑"/>
              </a:defRPr>
            </a:pPr>
            <a:r>
              <a:t>核心理念：不是卖工具，是帮老板把AI变成生产力。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一页纸总览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  <a:latin typeface="微软雅黑"/>
              </a:defRPr>
            </a:pPr>
            <a:r>
              <a:t>一页看懂全部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743200" cy="47548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743200" cy="5486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AI诊断：看清楚棋盘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方案设计：画好路线图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系统实施：把系统搭起来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持续运维：越用越值钱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280160"/>
            <a:ext cx="2743200" cy="47548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280160"/>
            <a:ext cx="2743200" cy="5486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325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卖什么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A 智能文档工厂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514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B 企业知识中枢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017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C 智能运营助手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520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D 统一门户与连接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280160"/>
            <a:ext cx="2743200" cy="47548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280160"/>
            <a:ext cx="2743200" cy="5486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325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凭什么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私有化部署，数据安全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514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人机协同，AI干活人把关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017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L1-L4数据分级管理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520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年度运维，持续进化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1280160"/>
            <a:ext cx="2743200" cy="47548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98280" y="1280160"/>
            <a:ext cx="2743200" cy="5486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20" y="1325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多少钱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诊断：2-3万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2514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实施：3-12万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3017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运维：0.8-2万/年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3520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培训：0.8-2.5万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4526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典型：10万以内跑起来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下一步：从诊断开始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CCEE"/>
                </a:solidFill>
                <a:latin typeface="微软雅黑"/>
              </a:defRPr>
            </a:pPr>
            <a:r>
              <a:t>不确定值不值得做？先花2-3万做诊断，看清楚再决定。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3017520"/>
            <a:ext cx="365760" cy="36576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358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035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联系我们，说你的情况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520440"/>
            <a:ext cx="365760" cy="36576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387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5387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我们判断是否适合AI，给你建议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023360"/>
            <a:ext cx="365760" cy="36576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416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0416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签订诊断协议，1-2周出报告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526280"/>
            <a:ext cx="365760" cy="36576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445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5445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你看了报告，决定做不做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D7D31"/>
                </a:solidFill>
                <a:latin typeface="微软雅黑"/>
              </a:defRPr>
            </a:pPr>
            <a:r>
              <a:t>诊断费可抵扣实施费。不签约也不亏——诊断报告你留着。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AI不是万能药</a:t>
            </a:r>
            <a:br/>
            <a:r>
              <a:t>但它是目前成本最低的止血工具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CCEE"/>
                </a:solidFill>
                <a:latin typeface="微软雅黑"/>
              </a:defRPr>
            </a:pPr>
            <a:r>
              <a:t>—— 前提是用对方法 ——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D7D31"/>
                </a:solidFill>
                <a:latin typeface="微软雅黑"/>
              </a:defRPr>
            </a:pPr>
            <a:r>
              <a:t>联系我们  ·  开始你的AI落地之旅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