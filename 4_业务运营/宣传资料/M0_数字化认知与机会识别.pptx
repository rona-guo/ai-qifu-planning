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" cy="411480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280160"/>
            <a:ext cx="1097280" cy="109728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M0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 panose="020F0502020204030204"/>
              </a:defRPr>
            </a:pPr>
            <a:r>
              <a:t>数字化认知与机会识别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 panose="020F0502020204030204"/>
              </a:defRPr>
            </a:pPr>
            <a:r>
              <a:t>Digital Awareness &amp; Opportunity Identification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017520"/>
            <a:ext cx="3657600" cy="2743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CADCFC"/>
                </a:solidFill>
                <a:latin typeface="Calibri" panose="020F0502020204030204"/>
              </a:defRPr>
            </a:pPr>
            <a:r>
              <a:t>企业数字化转型赋能培训体系  |  模块零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666666"/>
                </a:solidFill>
                <a:latin typeface="Calibri" panose="020F0502020204030204"/>
              </a:defRPr>
            </a:pPr>
            <a:r>
              <a:t>时长：4小时  |  受众：高管、部门负责人、数字化核心成员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F0A030"/>
                </a:solidFill>
                <a:latin typeface="Calibri" panose="020F0502020204030204"/>
              </a:defRPr>
            </a:pPr>
            <a:r>
              <a:t>产出物：企业数字化机会地图 + 优先级矩阵</a:t>
            </a:r>
          </a:p>
        </p:txBody>
      </p:sp>
      <p:sp>
        <p:nvSpPr>
          <p:cNvPr id="10" name="Oval 9"/>
          <p:cNvSpPr/>
          <p:nvPr/>
        </p:nvSpPr>
        <p:spPr>
          <a:xfrm>
            <a:off x="8961120" y="3931920"/>
            <a:ext cx="2194560" cy="2194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35440" y="4206240"/>
            <a:ext cx="1645920" cy="1645920"/>
          </a:xfrm>
          <a:prstGeom prst="ellipse">
            <a:avLst/>
          </a:prstGeom>
          <a:solidFill>
            <a:srgbClr val="2C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课程目标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" cy="91440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 panose="020F0502020204030204"/>
              </a:defRPr>
            </a:pPr>
            <a:r>
              <a:t>学完本模块，学员能够识别企业数字化机会，制定优先级路线图，避免"从哪里开始"的迷茫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3291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2697480"/>
            <a:ext cx="640080" cy="64008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理解数字化本质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区分数字化与信息化的本质差异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理解数字化转型的价值链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认清常见认知误区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651760"/>
            <a:ext cx="3291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51960" y="2697480"/>
            <a:ext cx="640080" cy="64008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识别数字化机会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6616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掌握业务痛点诊断方法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绘制企业数字化机会地图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评估机会优先级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651760"/>
            <a:ext cx="3291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09560" y="2697480"/>
            <a:ext cx="640080" cy="64008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制定路线图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6616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建立选题决策框架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平衡短期Quick Win与长期战略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产出可执行的行动计划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课程安排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Course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490472"/>
            <a:ext cx="402336" cy="402336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1920240"/>
            <a:ext cx="54864" cy="914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1481328"/>
            <a:ext cx="731520" cy="36576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1h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 panose="020F0502020204030204"/>
              </a:defRPr>
            </a:pPr>
            <a:r>
              <a:t>数字化转型的本质与常见误区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 panose="020F0502020204030204"/>
              </a:defRPr>
            </a:pPr>
            <a:r>
              <a:t>3个失败案例分析 / 成熟度模型 / 价值链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724912"/>
            <a:ext cx="402336" cy="402336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3154680"/>
            <a:ext cx="54864" cy="914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2715768"/>
            <a:ext cx="731520" cy="36576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7157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1.5h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 panose="020F0502020204030204"/>
              </a:defRPr>
            </a:pPr>
            <a:r>
              <a:t>企业数字化机会识别方法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063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 panose="020F0502020204030204"/>
              </a:defRPr>
            </a:pPr>
            <a:r>
              <a:t>价值流图VSM / 四象限法 / 工作坊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959352"/>
            <a:ext cx="402336" cy="402336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4389120"/>
            <a:ext cx="54864" cy="914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3950208"/>
            <a:ext cx="731520" cy="36576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502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1h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 panose="020F0502020204030204"/>
              </a:defRPr>
            </a:pPr>
            <a:r>
              <a:t>数字化路线图规划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297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 panose="020F0502020204030204"/>
              </a:defRPr>
            </a:pPr>
            <a:r>
              <a:t>选题标准 / Quick Win策略 / 优先级矩阵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5193792"/>
            <a:ext cx="402336" cy="402336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184648"/>
            <a:ext cx="731520" cy="36576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1846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 panose="020F0502020204030204"/>
              </a:defRPr>
            </a:pPr>
            <a:r>
              <a:t>AI在机会识别中的应用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532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 panose="020F0502020204030204"/>
              </a:defRPr>
            </a:pPr>
            <a:r>
              <a:t>AI辅助访谈 / 竞品对标 / 演示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828800"/>
            <a:ext cx="2926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0" y="1828800"/>
            <a:ext cx="2926080" cy="54864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 panose="020F0502020204030204"/>
              </a:defRPr>
            </a:pPr>
            <a:r>
              <a:t>总计时长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5C00"/>
                </a:solidFill>
                <a:latin typeface="Calibri" panose="020F0502020204030204"/>
              </a:defRPr>
            </a:pPr>
            <a:r>
              <a:t>4 小时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含1.5小时互动工作坊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数字化转型的本质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1.1 数字化 ≠ 上软件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029200" cy="54864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E05C00"/>
                </a:solidFill>
                <a:latin typeface="Calibri" panose="020F0502020204030204"/>
              </a:defRPr>
            </a:pPr>
            <a:r>
              <a:t>核心洞察</a:t>
            </a:r>
          </a:p>
          <a:p>
            <a:pPr algn="l">
              <a:spcAft>
                <a:spcPts val="240"/>
              </a:spcAft>
              <a:defRPr sz="8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420"/>
              </a:spcAft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数字化不是技术升级，而是业务模式的重新设计。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信息化 = 把线下流程搬到线上（记录）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数字化 = 用数据驱动业务决策（洞察）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智能化 = 用AI自动优化业务流程（决策）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" cy="914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 panose="020F0502020204030204"/>
              </a:defRPr>
            </a:pPr>
            <a:r>
              <a:t>信息化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 panose="020F0502020204030204"/>
              </a:defRPr>
            </a:pPr>
            <a:r>
              <a:t>ERP/CRM/OA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流程线上化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560320"/>
            <a:ext cx="54864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数字化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 panose="020F0502020204030204"/>
              </a:defRPr>
            </a:pPr>
            <a:r>
              <a:t>数据中台/低代码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数据驱动决策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4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49040"/>
            <a:ext cx="54864" cy="91440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C00"/>
                </a:solidFill>
                <a:latin typeface="Calibri" panose="020F0502020204030204"/>
              </a:defRPr>
            </a:pPr>
            <a:r>
              <a:t>智能化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 panose="020F0502020204030204"/>
              </a:defRPr>
            </a:pPr>
            <a:r>
              <a:t>AI/大模型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自动优化决策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11064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数字化转型的价值链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663440"/>
            <a:ext cx="2011680" cy="7315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63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提升效率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926080" y="4846320"/>
            <a:ext cx="5486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66160" y="4663440"/>
            <a:ext cx="201168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4663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改善体验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669280" y="4846320"/>
            <a:ext cx="5486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09360" y="4663440"/>
            <a:ext cx="2011680" cy="73152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663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优化决策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2480" y="4846320"/>
            <a:ext cx="5486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52560" y="4663440"/>
            <a:ext cx="2011680" cy="7315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4663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创新模式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三个失败案例分析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1.1 数字化转型的常见误区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47472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案例一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 panose="020F0502020204030204"/>
              </a:defRPr>
            </a:pPr>
            <a:r>
              <a:t>某制造企业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 panose="020F0502020204030204"/>
              </a:defRPr>
            </a:pPr>
            <a:r>
              <a:t>现状描述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投入500万上MES系统，上线半年后</a:t>
            </a:r>
            <a:br/>
            <a:r>
              <a:t>只有30%的产线在用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31920"/>
            <a:ext cx="292608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5C00"/>
                </a:solidFill>
                <a:latin typeface="Calibri" panose="020F0502020204030204"/>
              </a:defRPr>
            </a:pPr>
            <a:r>
              <a:t>根因分析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原因：没有从一线工人的痛点出发，</a:t>
            </a:r>
            <a:br/>
            <a:r>
              <a:t>系统增加了填写负担，反而降低了效率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347472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案例二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 panose="020F0502020204030204"/>
              </a:defRPr>
            </a:pPr>
            <a:r>
              <a:t>某零售连锁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 panose="020F0502020204030204"/>
              </a:defRPr>
            </a:pPr>
            <a:r>
              <a:t>现状描述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全国门店上线统一CRM，</a:t>
            </a:r>
            <a:br/>
            <a:r>
              <a:t>客户数据录入率不到15%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931920"/>
            <a:ext cx="292608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5C00"/>
                </a:solidFill>
                <a:latin typeface="Calibri" panose="020F0502020204030204"/>
              </a:defRPr>
            </a:pPr>
            <a:r>
              <a:t>根因分析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89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原因：一线导购看不到使用CRM的直接好处，</a:t>
            </a:r>
            <a:br/>
            <a:r>
              <a:t>激励机制没有配套调整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474720" cy="64008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案例三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 panose="020F0502020204030204"/>
              </a:defRPr>
            </a:pPr>
            <a:r>
              <a:t>某金融公司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 panose="020F0502020204030204"/>
              </a:defRPr>
            </a:pPr>
            <a:r>
              <a:t>现状描述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数字化转型立项12个，</a:t>
            </a:r>
            <a:br/>
            <a:r>
              <a:t>一年后只完成了1个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3931920"/>
            <a:ext cx="292608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5C00"/>
                </a:solidFill>
                <a:latin typeface="Calibri" panose="020F0502020204030204"/>
              </a:defRPr>
            </a:pPr>
            <a:r>
              <a:t>根因分析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389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原因：项目没有优先级，资源分散，</a:t>
            </a:r>
            <a:br/>
            <a:r>
              <a:t>缺少跨部门协调机制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669280"/>
            <a:ext cx="11064240" cy="64008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共同教训：数字化失败的根因几乎都不是技术问题，而是"人对了、需求对了、组织对了"没有同时做到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数字化成熟度评估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1.1 你的企业在哪个阶段？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2011680" cy="7315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t>初始级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纸质/Excel</a:t>
            </a:r>
            <a:br/>
            <a:r>
              <a:t>人工为主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840480"/>
            <a:ext cx="2011680" cy="11887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97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t>可重复级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212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部分系统</a:t>
            </a:r>
            <a:br/>
            <a:r>
              <a:t>流程半自动化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383280"/>
            <a:ext cx="2011680" cy="16459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t>已定义级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212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核心业务系统化</a:t>
            </a:r>
            <a:br/>
            <a:r>
              <a:t>数据初步整合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926080"/>
            <a:ext cx="2011680" cy="210312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L4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t>已管理级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212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数据驱动决策</a:t>
            </a:r>
            <a:br/>
            <a:r>
              <a:t>持续优化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468880"/>
            <a:ext cx="2011680" cy="25603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L5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t>优化级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212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AI深度融合</a:t>
            </a:r>
            <a:br/>
            <a:r>
              <a:t>业务自适应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37160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1554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2C3E50"/>
                </a:solidFill>
                <a:latin typeface="Calibri" panose="020F0502020204030204"/>
              </a:defRPr>
            </a:pPr>
            <a:r>
              <a:t>快速自评：你的企业在哪一级？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1. 核心业务流程是否已系统化？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2. 业务决策是否基于数据分析？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3. 跨部门数据是否已打通？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4. 是否有持续的数字化优化机制？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5. 是否在探索AI驱动的业务创新？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371600"/>
            <a:ext cx="56692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1371600"/>
            <a:ext cx="56692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5544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27AE60"/>
                </a:solidFill>
                <a:latin typeface="Calibri" panose="020F0502020204030204"/>
              </a:defRPr>
            </a:pPr>
            <a:r>
              <a:t>关键发现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大多数企业停留在L2-L3之间：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系统买了不少，但数据孤岛严重，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业务决策仍依赖经验而非数据。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跨越L3到L4的关键不是更多技术投入，</a:t>
            </a:r>
          </a:p>
          <a:p>
            <a:pPr algn="l">
              <a:spcAft>
                <a:spcPts val="360"/>
              </a:spcAft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t>而是建立"用数据说话"的组织习惯。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业务痛点诊断方法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2.1 价值流图（VSM）扫描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9436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价值流图扫描三步骤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绘制当前流程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梳理核心业务流程，标注每个环节的</a:t>
            </a:r>
            <a:br/>
            <a:r>
              <a:t>输入、输出、负责人、耗时、痛点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识别浪费环节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标记信息断层、重复录入、等待时间、</a:t>
            </a:r>
            <a:br/>
            <a:r>
              <a:t>人工判断等可优化节点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定位数字化机会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92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对每个浪费环节评估：</a:t>
            </a:r>
            <a:br/>
            <a:r>
              <a:t>能否用系统自动化？能否用数据替代人工判断？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371600"/>
            <a:ext cx="47548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痛点分类四象限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011680"/>
            <a:ext cx="54864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 panose="020F0502020204030204"/>
              </a:defRPr>
            </a:pPr>
            <a:r>
              <a:t>效率瓶颈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331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流程慢、人工操作多、重复劳动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3017520"/>
            <a:ext cx="54864" cy="64008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5C00"/>
                </a:solidFill>
                <a:latin typeface="Calibri" panose="020F0502020204030204"/>
              </a:defRPr>
            </a:pPr>
            <a:r>
              <a:t>信息断层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337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部门间信息不互通、数据孤岛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4023360"/>
            <a:ext cx="54864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 panose="020F0502020204030204"/>
              </a:defRPr>
            </a:pPr>
            <a:r>
              <a:t>决策盲区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343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缺少数据支撑、凭经验拍脑袋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029200"/>
            <a:ext cx="54864" cy="6400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 panose="020F0502020204030204"/>
              </a:defRPr>
            </a:pPr>
            <a:r>
              <a:t>体验痛点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349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客户/员工体验差、投诉多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数字化机会四象限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2.2 高价值 x 低复杂度优先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5852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 panose="020F0502020204030204"/>
              </a:defRPr>
            </a:pPr>
            <a:r>
              <a:t>实施复杂度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457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业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务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价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值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 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63040"/>
            <a:ext cx="329184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63040"/>
            <a:ext cx="3200400" cy="2286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3840480"/>
            <a:ext cx="329184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840480"/>
            <a:ext cx="3200400" cy="21945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0" y="1371600"/>
            <a:ext cx="18288" cy="4846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6858000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 panose="020F0502020204030204"/>
              </a:defRPr>
            </a:pPr>
            <a:r>
              <a:t>★ 优先做！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高价值 + 低复杂度</a:t>
            </a:r>
            <a:br/>
            <a:r>
              <a:t>Quick Win，快速建立信心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5C00"/>
                </a:solidFill>
                <a:latin typeface="Calibri" panose="020F0502020204030204"/>
              </a:defRPr>
            </a:pPr>
            <a:r>
              <a:t>战略储备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高价值 + 高复杂度</a:t>
            </a:r>
            <a:br/>
            <a:r>
              <a:t>需要充足资源和时间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Calibri" panose="020F0502020204030204"/>
              </a:defRPr>
            </a:pPr>
            <a:r>
              <a:t>暂缓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低价值 + 高复杂度</a:t>
            </a:r>
            <a:br/>
            <a:r>
              <a:t>投入产出比极低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Calibri" panose="020F0502020204030204"/>
              </a:defRPr>
            </a:pPr>
            <a:r>
              <a:t>有空再做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72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低价值 + 低复杂度</a:t>
            </a:r>
            <a:br/>
            <a:r>
              <a:t>顺手优化即可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371600"/>
            <a:ext cx="3566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371600"/>
            <a:ext cx="3566160" cy="54864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评估维度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1">
                <a:solidFill>
                  <a:srgbClr val="E05C00"/>
                </a:solidFill>
                <a:latin typeface="Calibri" panose="020F0502020204030204"/>
              </a:defRPr>
            </a:pPr>
            <a:r>
              <a:t>业务价值评估：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对核心KPI的影响程度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覆盖的业务范围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可量化的ROI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管理层的支持度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t>实施复杂度评估：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技术实现难度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跨部门协调难度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数据准备程度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组织变革阻力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工作坊：绘制企业数字化机会地图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2.3 互动练习（30分钟）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064240" cy="54864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工作坊形式：分组讨论 + 实战产出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Calibri" panose="020F0502020204030204"/>
              </a:defRPr>
            </a:pPr>
            <a:r>
              <a:t>每组4-6人，以学员所在企业的真实业务为背景，完成一份数字化机会地图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E05C00"/>
                </a:solidFill>
                <a:latin typeface="Calibri" panose="020F0502020204030204"/>
              </a:defRPr>
            </a:pPr>
            <a:r>
              <a:t>产出物将直接作为后续模块（M1需求管理）的输入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822960" cy="36576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10min</a:t>
            </a:r>
          </a:p>
        </p:txBody>
      </p:sp>
      <p:sp>
        <p:nvSpPr>
          <p:cNvPr id="13" name="Oval 12"/>
          <p:cNvSpPr/>
          <p:nvPr/>
        </p:nvSpPr>
        <p:spPr>
          <a:xfrm>
            <a:off x="1600200" y="3246120"/>
            <a:ext cx="457200" cy="457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 panose="020F0502020204030204"/>
              </a:defRPr>
            </a:pPr>
            <a:r>
              <a:t>头脑风暴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每组列出10个业务痛点</a:t>
            </a:r>
            <a:br/>
            <a:r>
              <a:t>不评价、不筛选、尽量发散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10896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3291840"/>
            <a:ext cx="822960" cy="36576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2918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10min</a:t>
            </a:r>
          </a:p>
        </p:txBody>
      </p:sp>
      <p:sp>
        <p:nvSpPr>
          <p:cNvPr id="19" name="Oval 18"/>
          <p:cNvSpPr/>
          <p:nvPr/>
        </p:nvSpPr>
        <p:spPr>
          <a:xfrm>
            <a:off x="5440680" y="3246120"/>
            <a:ext cx="457200" cy="457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 panose="020F0502020204030204"/>
              </a:defRPr>
            </a:pPr>
            <a:r>
              <a:t>分类评估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931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将痛点填入四象限</a:t>
            </a:r>
            <a:br/>
            <a:r>
              <a:t>评估业务价值和实施复杂度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10896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3291840"/>
            <a:ext cx="822960" cy="36576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2918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10min</a:t>
            </a:r>
          </a:p>
        </p:txBody>
      </p:sp>
      <p:sp>
        <p:nvSpPr>
          <p:cNvPr id="25" name="Oval 24"/>
          <p:cNvSpPr/>
          <p:nvPr/>
        </p:nvSpPr>
        <p:spPr>
          <a:xfrm>
            <a:off x="9281160" y="3246120"/>
            <a:ext cx="457200" cy="457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 panose="020F0502020204030204"/>
              </a:defRPr>
            </a:pPr>
            <a:r>
              <a:t>产出汇报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31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 panose="020F0502020204030204"/>
              </a:defRPr>
            </a:pPr>
            <a:r>
              <a:t>选出Top 3优先机会</a:t>
            </a:r>
            <a:br/>
            <a:r>
              <a:t>每组2分钟汇报+讨论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数字化路线图规划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3.1 选题标准与路径设计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54864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2C3E50"/>
                </a:solidFill>
                <a:latin typeface="Calibri" panose="020F0502020204030204"/>
              </a:defRPr>
            </a:pPr>
            <a:r>
              <a:t>三维选题决策框架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420"/>
              </a:spcAft>
              <a:defRPr sz="1400" b="1">
                <a:solidFill>
                  <a:srgbClr val="E05C00"/>
                </a:solidFill>
                <a:latin typeface="Calibri" panose="020F0502020204030204"/>
              </a:defRPr>
            </a:pPr>
            <a:r>
              <a:t>业务价值    ×    实施可行性    ×    组织准备度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业务价值：对营收/成本/客户满意度的可量化影响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实施可行性：技术难度、数据可用性、资源充足度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组织准备度：管理层支持、变革意愿、人才储备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t>三维得分相乘，选最高分的前3个作为第一批项目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2120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2120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27AE60"/>
                </a:solidFill>
                <a:latin typeface="Calibri" panose="020F0502020204030204"/>
              </a:defRPr>
            </a:pPr>
            <a:r>
              <a:t>Quick Win策略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t>第一个项目必须成功 —— 这是信心的基石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Quick Win选择标准：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2-4周内可见成果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影响面广但复杂度低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解决的是一线员工的真痛点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不需要大规模组织变革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11064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推荐路线图节奏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2286000" cy="10058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第1-2月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 panose="020F0502020204030204"/>
              </a:defRPr>
            </a:pPr>
            <a:r>
              <a:t>Quick Win</a:t>
            </a:r>
            <a:br/>
            <a:r>
              <a:t>1-2个快赢项目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08960" y="521208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4937760"/>
            <a:ext cx="2286000" cy="100584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第3-4月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 panose="020F0502020204030204"/>
              </a:defRPr>
            </a:pPr>
            <a:r>
              <a:t>核心场景</a:t>
            </a:r>
            <a:br/>
            <a:r>
              <a:t>1个关键业务系统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52160" y="521208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4937760"/>
            <a:ext cx="2286000" cy="10058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第5-6月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 panose="020F0502020204030204"/>
              </a:defRPr>
            </a:pPr>
            <a:r>
              <a:t>扩展推广</a:t>
            </a:r>
            <a:br/>
            <a:r>
              <a:t>3-5个系统上线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95360" y="521208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4937760"/>
            <a:ext cx="2286000" cy="10058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持续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 panose="020F0502020204030204"/>
              </a:defRPr>
            </a:pPr>
            <a:r>
              <a:t>优化迭代</a:t>
            </a:r>
            <a:br/>
            <a:r>
              <a:t>数据驱动 + AI增强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产出物：数字化优先级矩阵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3.2 模板演示与实战练习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数字化优先级矩阵（示例）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920240"/>
          <a:ext cx="5669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463040"/>
                <a:gridCol w="731520"/>
                <a:gridCol w="731520"/>
                <a:gridCol w="731520"/>
                <a:gridCol w="822960"/>
                <a:gridCol w="82296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排序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数字化机会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业务价值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(1-10)</a:t>
                      </a:r>
                    </a:p>
                  </a:txBody>
                  <a:tcPr>
                    <a:solidFill>
                      <a:srgbClr val="E05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可行性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(1-10)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准备度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(1-10)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总分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(三项相乘)</a:t>
                      </a:r>
                    </a:p>
                  </a:txBody>
                  <a:tcPr>
                    <a:solidFill>
                      <a:srgbClr val="E05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建议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客户跟进工单系统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504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  <a:latin typeface="Calibri" panose="020F0502020204030204"/>
                        </a:defRPr>
                      </a:pPr>
                      <a:r>
                        <a:t>Quick Win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报销审批自动化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  <a:latin typeface="Calibri" panose="020F0502020204030204"/>
                        </a:defRPr>
                      </a:pPr>
                      <a:r>
                        <a:t>Quick 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销售数据看板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336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核心场景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供应商协同平台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扩展推广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智能排产系统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 panose="020F0502020204030204"/>
                        </a:defRPr>
                      </a:pPr>
                      <a:r>
                        <a:t>战略储备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1371600"/>
            <a:ext cx="38404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3840480" cy="54864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如何使用此矩阵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1. 列出所有识别到的数字化机会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2. 分别对每个机会打分（1-10分）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   · 业务价值：对KPI的影响程度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   · 可行性：技术和资源的就绪度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   · 准备度：组织支持和变革意愿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3. 三项得分相乘，按总分排序</a:t>
            </a:r>
          </a:p>
          <a:p>
            <a:pPr algn="l">
              <a:spcAft>
                <a:spcPts val="120"/>
              </a:spcAft>
              <a:defRPr sz="4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30"/>
              </a:spcAft>
              <a:defRPr sz="1100" b="0">
                <a:solidFill>
                  <a:srgbClr val="27AE60"/>
                </a:solidFill>
                <a:latin typeface="Calibri" panose="020F0502020204030204"/>
              </a:defRPr>
            </a:pPr>
            <a:r>
              <a:t>4. Top 1-2名作为Quick Win启动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2C3E50"/>
                </a:solidFill>
                <a:latin typeface="Calibri" panose="020F0502020204030204"/>
              </a:defRPr>
            </a:pPr>
            <a:r>
              <a:t>   Top 3-5名作为核心场景规划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1">
                <a:solidFill>
                  <a:srgbClr val="E05C00"/>
                </a:solidFill>
                <a:latin typeface="Calibri" panose="020F0502020204030204"/>
              </a:defRPr>
            </a:pPr>
            <a:r>
              <a:t>关键原则：</a:t>
            </a:r>
          </a:p>
          <a:p>
            <a:pPr algn="l">
              <a:spcAft>
                <a:spcPts val="330"/>
              </a:spcAft>
              <a:defRPr sz="1100" b="1">
                <a:solidFill>
                  <a:srgbClr val="E05C00"/>
                </a:solidFill>
                <a:latin typeface="Calibri" panose="020F0502020204030204"/>
              </a:defRPr>
            </a:pPr>
            <a:r>
              <a:t>总分 = 价值 x 可行性 x 准备度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任何一项为低分，总分就会很低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——这避免了"价值高但做不了"的坑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AI在机会识别中的应用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4.1 让AI成为你的数字化顾问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47472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AI辅助访谈分析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用AI分析部门访谈记录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自动提取高频痛点关键词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生成结构化的需求清单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74720"/>
            <a:ext cx="292608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5C00"/>
                </a:solidFill>
                <a:latin typeface="Calibri" panose="020F0502020204030204"/>
              </a:defRPr>
            </a:pPr>
            <a:r>
              <a:t>推荐工具与Prompt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ChatGPT / Kimi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输入访谈录音文本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Prompt: 提取业务痛点并分类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47472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AI生成竞品对标报告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用AI快速调研同行业数字化实践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生成竞品能力对标分析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识别差距和机会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474720"/>
            <a:ext cx="292608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657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5C00"/>
                </a:solidFill>
                <a:latin typeface="Calibri" panose="020F0502020204030204"/>
              </a:defRPr>
            </a:pPr>
            <a:r>
              <a:t>推荐工具与Prompt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ChatGPT / Claude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输入行业和业务场景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Prompt: 分析同行业数字化实践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AI辅助优先级评估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把机会清单喂给AI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让AI从多维度交叉评估</a:t>
            </a:r>
          </a:p>
          <a:p>
            <a:pPr algn="l">
              <a:spcAft>
                <a:spcPts val="44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补充人可能遗漏的视角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474720"/>
            <a:ext cx="292608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657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5C00"/>
                </a:solidFill>
                <a:latin typeface="Calibri" panose="020F0502020204030204"/>
              </a:defRPr>
            </a:pPr>
            <a:r>
              <a:t>推荐工具与Prompt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ChatGPT / Claude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输入机会清单和评估维度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6666"/>
                </a:solidFill>
                <a:latin typeface="Calibri" panose="020F0502020204030204"/>
              </a:defRPr>
            </a:pPr>
            <a:r>
              <a:t>Prompt: 评估优先级并给出理由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现场演示：用AI分析一段真实业务访谈录音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CADCFC"/>
                </a:solidFill>
                <a:latin typeface="Calibri" panose="020F0502020204030204"/>
              </a:defRPr>
            </a:pPr>
            <a:r>
              <a:t>我们将现场演示如何把一段部门主管的访谈录音，通过AI提取出结构化的业务痛点和数字化机会清单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模块产出物与配套AI工具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 panose="020F0502020204030204"/>
              </a:defRPr>
            </a:pPr>
            <a:r>
              <a:t>Module Outputs &amp; AI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 panose="020F0502020204030204"/>
              </a:defRPr>
            </a:pPr>
            <a:r>
              <a:t>M0 | 数字化认知与机会识别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54864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本模块产出物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E05C00"/>
                </a:solidFill>
                <a:latin typeface="Calibri" panose="020F0502020204030204"/>
              </a:defRPr>
            </a:pPr>
            <a:r>
              <a:t>产出物1：企业数字化机会地图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基于VSM扫描的业务痛点全景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四象限分类（价值 x 复杂度）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覆盖所有核心业务部门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E05C00"/>
                </a:solidFill>
                <a:latin typeface="Calibri" panose="020F0502020204030204"/>
              </a:defRPr>
            </a:pPr>
            <a:r>
              <a:t>产出物2：数字化优先级矩阵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三维评分（价值 x 可行性 x 准备度）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Top 3 Quick Win项目建议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6个月路线图框架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60"/>
              </a:spcAft>
              <a:defRPr sz="1200" b="1">
                <a:solidFill>
                  <a:srgbClr val="27AE60"/>
                </a:solidFill>
                <a:latin typeface="Calibri" panose="020F0502020204030204"/>
              </a:defRPr>
            </a:pPr>
            <a:r>
              <a:t>→ 这些产出物将直接成为M1模块的输入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2120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21208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配套AI工具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E05C00"/>
                </a:solidFill>
                <a:latin typeface="Calibri" panose="020F0502020204030204"/>
              </a:defRPr>
            </a:pPr>
            <a:r>
              <a:t>ChatGPT / Kimi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访谈分析、报告撰写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竞品对标、机会评估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E05C00"/>
                </a:solidFill>
                <a:latin typeface="Calibri" panose="020F0502020204030204"/>
              </a:defRPr>
            </a:pPr>
            <a:r>
              <a:t>思维导图AI工具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机会地图可视化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痛点关联分析</a:t>
            </a:r>
          </a:p>
          <a:p>
            <a:pPr algn="l">
              <a:spcAft>
                <a:spcPts val="180"/>
              </a:spcAft>
              <a:defRPr sz="600" b="0">
                <a:solidFill>
                  <a:srgbClr val="333333"/>
                </a:solidFill>
                <a:latin typeface="Calibri" panose="020F0502020204030204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E05C00"/>
                </a:solidFill>
                <a:latin typeface="Calibri" panose="020F0502020204030204"/>
              </a:defRPr>
            </a:pPr>
            <a:r>
              <a:t>低代码平台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优先级矩阵模板（可直接使用）</a:t>
            </a:r>
          </a:p>
          <a:p>
            <a:pPr algn="l">
              <a:spcAft>
                <a:spcPts val="330"/>
              </a:spcAft>
              <a:defRPr sz="1100" b="0">
                <a:solidFill>
                  <a:srgbClr val="333333"/>
                </a:solidFill>
                <a:latin typeface="Calibri" panose="020F0502020204030204"/>
              </a:defRPr>
            </a:pPr>
            <a:r>
              <a:t>· 后续模块可直接在平台中实现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640080"/>
          </a:xfrm>
          <a:prstGeom prst="round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下一模块 M1：需求管理与流程梳理 —— 把机会地图中的Top项目，拆解为可执行的需求清单和用户故事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M0 模块总结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 panose="020F0502020204030204"/>
              </a:defRPr>
            </a:pPr>
            <a:r>
              <a:t>数字化认知与机会识别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A030"/>
                </a:solidFill>
                <a:latin typeface="Calibri" panose="020F0502020204030204"/>
              </a:defRPr>
            </a:pPr>
            <a:r>
              <a:t>数字化 ≠ 上软件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 panose="020F0502020204030204"/>
              </a:defRPr>
            </a:pPr>
            <a:r>
              <a:t>数字化是业务模式的重新设计，失败根因通常是人的问题、需求的问题、组织的问题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A030"/>
                </a:solidFill>
                <a:latin typeface="Calibri" panose="020F0502020204030204"/>
              </a:defRPr>
            </a:pPr>
            <a:r>
              <a:t>先诊断，再开方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 panose="020F0502020204030204"/>
              </a:defRPr>
            </a:pPr>
            <a:r>
              <a:t>用VSM扫描业务痛点，用四象限评估机会，避免盲目上系统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69080"/>
            <a:ext cx="457200" cy="45720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A030"/>
                </a:solidFill>
                <a:latin typeface="Calibri" panose="020F0502020204030204"/>
              </a:defRPr>
            </a:pPr>
            <a:r>
              <a:t>Quick Win建立信心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4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 panose="020F0502020204030204"/>
              </a:defRPr>
            </a:pPr>
            <a:r>
              <a:t>第一个项目必须成功，选高价值低复杂度的机会快速启动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66360"/>
            <a:ext cx="457200" cy="457200"/>
          </a:xfrm>
          <a:prstGeom prst="ellipse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A030"/>
                </a:solidFill>
                <a:latin typeface="Calibri" panose="020F0502020204030204"/>
              </a:defRPr>
            </a:pPr>
            <a:r>
              <a:t>AI是你的顾问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40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 panose="020F0502020204030204"/>
              </a:defRPr>
            </a:pPr>
            <a:r>
              <a:t>用AI辅助访谈分析、竞品对标、优先级评估，提升决策质量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1064240" cy="36576"/>
          </a:xfrm>
          <a:prstGeom prst="rect">
            <a:avLst/>
          </a:prstGeom>
          <a:solidFill>
            <a:srgbClr val="E0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F0A030"/>
                </a:solidFill>
                <a:latin typeface="Calibri" panose="020F0502020204030204"/>
              </a:defRPr>
            </a:pPr>
            <a:r>
              <a:t>课后行动：在本周内，用四象限法完成你所在部门/企业的数字化机会地图，带到M1课堂上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3729</Words>
  <Application>WPS 演示</Application>
  <PresentationFormat>On-screen Show (4:3)</PresentationFormat>
  <Paragraphs>619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郭娜rona</cp:lastModifiedBy>
  <cp:revision>2</cp:revision>
  <dcterms:created xsi:type="dcterms:W3CDTF">2013-01-27T09:14:00Z</dcterms:created>
  <dcterms:modified xsi:type="dcterms:W3CDTF">2026-04-08T06:32:10Z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ABC78C2D2E464BD5B570D3AD543EC8FB_13</vt:lpwstr>
  </property>
  <property fmtid="{D5CDD505-2E9C-101B-9397-08002B2CF9AE}" pid="3" name="KSOProductBuildVer">
    <vt:lpwstr>2052-12.1.0.25225</vt:lpwstr>
  </property>
</Properties>
</file>